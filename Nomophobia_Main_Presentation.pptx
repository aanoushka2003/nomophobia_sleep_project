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5" y="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062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828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858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Dependence and Its Effect on Sleep Hygiene: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146304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on Nomophobia in University Students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02920" y="2176272"/>
            <a:ext cx="8138160" cy="3657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331720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236829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2648" y="2624328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Aanoushka Garg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2331720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64608" y="236829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64608" y="2624328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1219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172968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" y="320954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" y="346557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(Hons.) Statistics, 2026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3172968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64608" y="320954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64608" y="346557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College, University of Delhi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014216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" y="405079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2648" y="430682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Manoj Kumar Varshney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4014216"/>
            <a:ext cx="4023360" cy="749808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64608" y="405079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64608" y="4306824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Chandrabhan Yadav  &amp;  Dr Lalit Kumar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|  B.Sc. (Hons.) Statistics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This Study Matters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846320" cy="40233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have become extensions of our identity — not just tools. Students spend 8–10 hours/day on phones, often unable to switch off.
</a:t>
            </a:r>
            <a:r>
              <a:rPr lang="en-US" sz="12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(No-Mobile-Phone Phobia) is the fear or anxiety of being without one's smartphone. It goes beyond screen time — it's emotional dependency.
</a:t>
            </a:r>
            <a:r>
              <a:rPr lang="en-US" sz="12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this study fills:
</a:t>
            </a: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Overemphasis on screen time, not emotional dependency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Indian university students underrepresented in research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Nomophobia, sleep &amp; anxiety rarely studied together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9240" y="777240"/>
            <a:ext cx="3520440" cy="128016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850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1887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does nomophobia influence sleep hygiene, and how does anxiety shape this relationship?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49240" y="2212848"/>
            <a:ext cx="1691640" cy="1143000"/>
          </a:xfrm>
          <a:prstGeom prst="rect">
            <a:avLst/>
          </a:prstGeom>
          <a:solidFill>
            <a:srgbClr val="1A4C2C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2267712"/>
            <a:ext cx="1691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hrs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2898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phone use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14032" y="2212848"/>
            <a:ext cx="169164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2267712"/>
            <a:ext cx="1691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59752" y="2898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classify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yet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3474720"/>
            <a:ext cx="1691640" cy="1143000"/>
          </a:xfrm>
          <a:prstGeom prst="rect">
            <a:avLst/>
          </a:prstGeom>
          <a:solidFill>
            <a:srgbClr val="1A4C2C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529584"/>
            <a:ext cx="1691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274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94960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University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surveyed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3474720"/>
            <a:ext cx="169164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14032" y="3529584"/>
            <a:ext cx="16916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59752" y="4160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moderate–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nomophobia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 — What We Know &amp; What's Missing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09728" cy="182880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 &amp; Digital Dependence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913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studies confirm exponential rise in smartphone use among university students. Compulsive use patterns linked to academic disruption and emotional dysregulation (Elhai et al., 2017).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109728" cy="182880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91440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as a Construct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64608" y="1280160"/>
            <a:ext cx="3913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captures emotional dependency beyond usage frequency. Validated via NMP-Q (Yildirim &amp; Correia, 2015). ~73% of students globally show moderate–high nomophobia (Al-Mamun et al., 2023).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109728" cy="182880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036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 &amp; Sleep Hygiene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" y="3246120"/>
            <a:ext cx="3913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use delays sleep onset, blue light suppresses melatonin, notifications disrupt sleep continuity. Psychological attachment creates mental alertness even when phone is off (Cain &amp; Gradisar, 2010).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20624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88920"/>
            <a:ext cx="109728" cy="182880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880360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Well-being &amp; Digital Dependence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64608" y="3246120"/>
            <a:ext cx="3913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nomophobia consistently associated with higher anxiety. Anxiety mediates smartphone use and mental health outcomes. Indian university mental health remains understudied (Demirci et al., 2015).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integrated study of nomophobia + sleep + anxiety in Indian university students using validated instruments and formal mediation testing.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Hypotheses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046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804672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whether nomophobia influences sleep hygiene among university students and to formally test whether anxiety mediates this relationship.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329184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581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H#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581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581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1581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938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19293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19293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↔ Sleep Quality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929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929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984248"/>
            <a:ext cx="1463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6092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✓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23317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↔ Sleep Quality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3317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2386584"/>
            <a:ext cx="1463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60920" y="23865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✓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73405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27340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273405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↔ Anxiety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734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+0.34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7340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2788920"/>
            <a:ext cx="1463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609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✓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136392"/>
            <a:ext cx="8595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31363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H₄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31363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↔ Sleep Quality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1363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−0.35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13639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60920" y="3191256"/>
            <a:ext cx="1463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60920" y="3191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✓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53872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0040" y="3538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H₅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14400" y="35387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↔ Nomophobia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538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8285.5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35387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60920" y="3593592"/>
            <a:ext cx="1463040" cy="27432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6092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✗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3941064"/>
            <a:ext cx="859536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20040" y="394106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14400" y="3941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↔ Sleep Quality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8699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63640" y="3941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60920" y="3995928"/>
            <a:ext cx="1463040" cy="274320"/>
          </a:xfrm>
          <a:prstGeom prst="rect">
            <a:avLst/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6092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✗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0040" y="4343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H₇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14400" y="4343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+ Nomophobia → Sleep (Regression)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29200" y="4343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6.2%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63640" y="43434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60920" y="4398264"/>
            <a:ext cx="1463040" cy="274320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360920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✓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" y="822960"/>
            <a:ext cx="1353312" cy="65836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4904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28216" y="1106424"/>
            <a:ext cx="54864" cy="9144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822960"/>
            <a:ext cx="1353312" cy="65836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6392" y="1106424"/>
            <a:ext cx="54864" cy="9144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822960"/>
            <a:ext cx="1353312" cy="65836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274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44568" y="1106424"/>
            <a:ext cx="54864" cy="9144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822960"/>
            <a:ext cx="1353312" cy="65836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9432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52744" y="1106424"/>
            <a:ext cx="54864" cy="9144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7608" y="822960"/>
            <a:ext cx="1353312" cy="65836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07608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in 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1106424"/>
            <a:ext cx="54864" cy="9144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5784" y="822960"/>
            <a:ext cx="1353312" cy="65836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15784" y="8229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609344"/>
            <a:ext cx="4160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168249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&amp; Design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0574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64208" y="205740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Cross-sectional, descriptive-analytical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5328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64208" y="25328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students, North Campus, University of Delhi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0083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64208" y="300837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Snowball sampling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4838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64208" y="34838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 = 84 (r=0.3, α=0.05, 80% power)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274 exceeds substantially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59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64208" y="39593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→ non-normal → Spearman + Mann-Whitney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64208" y="443484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(pwr, psych, ggplot2, ggcorrplot)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1609344"/>
            <a:ext cx="42519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16824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&amp; Reliability (Cronbach's α)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17720" y="2029968"/>
            <a:ext cx="4251960" cy="310896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45152" y="20299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20299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20840" y="20299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42048" y="20299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99248" y="202996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2359152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45152" y="235915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NMP-Q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12080" y="23591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Questionnaire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20840" y="23591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42048" y="235915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99248" y="2359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2834640"/>
            <a:ext cx="4251960" cy="457200"/>
          </a:xfrm>
          <a:prstGeom prst="rect">
            <a:avLst/>
          </a:prstGeom>
          <a:solidFill>
            <a:srgbClr val="ECF7ED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45152" y="28346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PSQI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Pittsburgh Sleep Quality Index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20840" y="28346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42048" y="28346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0.47†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6992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17720" y="3310128"/>
            <a:ext cx="4251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645152" y="331012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12080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Anxiety Disorder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20840" y="33101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242048" y="331012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699248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3785616"/>
            <a:ext cx="4251960" cy="457200"/>
          </a:xfrm>
          <a:prstGeom prst="rect">
            <a:avLst/>
          </a:prstGeom>
          <a:solidFill>
            <a:srgbClr val="ECF7ED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645152" y="37856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212080" y="37856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(adapted)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20840" y="378561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242048" y="378561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699248" y="37856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45152" y="426110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Sleep α = 0.47 reflects multidimensional nature of sleep hygiene (Buysse et al., 1989) — retained with caution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 &amp; Descriptive Statistics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673352" cy="960120"/>
          </a:xfrm>
          <a:prstGeom prst="rect">
            <a:avLst/>
          </a:prstGeom>
          <a:solidFill>
            <a:srgbClr val="7B1F4B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32104"/>
            <a:ext cx="1673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15819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777240"/>
            <a:ext cx="1673352" cy="960120"/>
          </a:xfrm>
          <a:prstGeom prst="rect">
            <a:avLst/>
          </a:prstGeom>
          <a:solidFill>
            <a:srgbClr val="1A4C2C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832104"/>
            <a:ext cx="1673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353312"/>
            <a:ext cx="15819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Phone Use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12464" y="777240"/>
            <a:ext cx="1673352" cy="960120"/>
          </a:xfrm>
          <a:prstGeom prst="rect">
            <a:avLst/>
          </a:prstGeom>
          <a:solidFill>
            <a:srgbClr val="7B1F4B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832104"/>
            <a:ext cx="1673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58184" y="1353312"/>
            <a:ext cx="15819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Mod–High Nomophobia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31536" y="777240"/>
            <a:ext cx="1673352" cy="960120"/>
          </a:xfrm>
          <a:prstGeom prst="rect">
            <a:avLst/>
          </a:prstGeom>
          <a:solidFill>
            <a:srgbClr val="1A4C2C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832104"/>
            <a:ext cx="1673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77256" y="1353312"/>
            <a:ext cx="15819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Mod–Poor Sleep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50608" y="777240"/>
            <a:ext cx="1673352" cy="960120"/>
          </a:xfrm>
          <a:prstGeom prst="rect">
            <a:avLst/>
          </a:prstGeom>
          <a:solidFill>
            <a:srgbClr val="7B1F4B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832104"/>
            <a:ext cx="167335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96328" y="1353312"/>
            <a:ext cx="158191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Mod–High Anxiety</a:t>
            </a:r>
            <a:endParaRPr lang="en-US" sz="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01952"/>
            <a:ext cx="3291840" cy="21945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74320" y="4114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Gender Distribution</a:t>
            </a:r>
            <a:endParaRPr lang="en-US" sz="8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901952"/>
            <a:ext cx="5120640" cy="21945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49040" y="41148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Age Distribution (Mean = 20.2 years, 91.6% aged 17–23)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Category Distributions (n = 274)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Category distributions across Phone Use, Nomophobia, Sleep Quality and Anxiety — majority of students in moderate-to-high categories across all four variables.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— Spearman Rank Correlations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02920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Spearman Correlation Matrix. All significant correlations p &lt; 0.001.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32120" y="804672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804672"/>
            <a:ext cx="91440" cy="73152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87568" y="859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Phone Use ↔ Sleep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115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−0.21, p &lt; 0.001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68" y="13167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phone use = worse sleep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32120" y="1609344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120" y="1609344"/>
            <a:ext cx="91440" cy="73152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H₂: Nomophobia ↔ Sleep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87568" y="1920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−0.24, p &lt; 0.001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87568" y="21214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stronger than usage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2414016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32120" y="2414016"/>
            <a:ext cx="91440" cy="73152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87568" y="24688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H₃: Nomophobia ↔ Anxiety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87568" y="27249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+0.34, p &lt; 0.001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87568" y="2926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attachment raises anxiety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32120" y="3218688"/>
            <a:ext cx="333756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32120" y="3218688"/>
            <a:ext cx="91440" cy="73152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87568" y="3273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H₄: Anxiety ↔ Sleep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87568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−0.35, p &lt; 0.001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87568" y="37307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 — highest ρ in study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532120" y="4023360"/>
            <a:ext cx="333756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32120" y="4023360"/>
            <a:ext cx="91440" cy="73152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078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H₅ &amp; H₆: Gender Comparisons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87568" y="4334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0.311 / 0.720 (ns)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87568" y="45354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gender differences — universal problem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 — Scatter Plots with Regression Lines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All four relationships significant at p &lt; 0.001. Note stronger slope for Anxiety vs Sleep (ρ = −0.35) compared to Nomophobia vs Sleep (ρ = −0.24).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Comparisons — H₅ &amp; H₆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5486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No significant gender differences in nomophobia (p = 0.311) or sleep quality (p = 0.720). Digital dependence is a universal student issue — not gendered.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859536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7457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Virtually identical distributions across gender for both nomophobia and sleep quality scores. Interventions should be universal, not gender-targeted.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— Predicting Sleep Quality (H₇)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2103120" cy="137160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only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4.5%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−0.188***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AIC: 1306.82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822960"/>
            <a:ext cx="2103120" cy="137160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only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42032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4.5%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1792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−0.142***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20116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AIC: 1306.93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822960"/>
            <a:ext cx="2103120" cy="137160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✓ H₇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8304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Nomophobia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6.2%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18304" y="1792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sig. (p &lt; 0.05)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8304" y="20116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AIC: 1304.07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03136" y="822960"/>
            <a:ext cx="2103120" cy="137160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94576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★ Best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94576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Anxiety added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94576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14.8%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94576" y="1792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β_anxiety = −0.444***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94576" y="201168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AIC: 1279.79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340864"/>
            <a:ext cx="8595360" cy="138988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340864"/>
            <a:ext cx="8595360" cy="54864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Finding — The Mediation Signature: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2724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anxiety entered Model 4, R² nearly TRIPLED — from 6.2% to 14.8%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2999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became non-significant (p = 0.221) | Nomophobia became non-significant (p = 0.301)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remained the SOLE significant predictor: β = −0.444, p &lt; 0.001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dropped 24 points → substantially better model fit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94760"/>
            <a:ext cx="1933956" cy="2377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3794760"/>
            <a:ext cx="18425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—  R² = 4.5%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05656"/>
            <a:ext cx="1933956" cy="23774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4105656"/>
            <a:ext cx="18425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—  R² = 4.5%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416552"/>
            <a:ext cx="2664562" cy="237744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4416552"/>
            <a:ext cx="25731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—  R² = 6.2%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27448"/>
            <a:ext cx="6360566" cy="237744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4727448"/>
            <a:ext cx="62691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 —  R² = 14.8%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Analysis — Anxiety as the Bridge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MEDIATION CONFIRMED  —  Sobel Z = −4.07,  p &lt; 0.001  |  53.3% of nomophobia's effect on sleep travels through anxiety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74980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488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Nomophobia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399032"/>
            <a:ext cx="1920240" cy="749808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3990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Anxiety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(Mediator)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148840"/>
            <a:ext cx="1920240" cy="74980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1488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Sleep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β = +0.163***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β = −0.465***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6060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c' (direct): β = −0.066, p = 0.098 — NON-SIGNIFICANT once anxiety included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8595360" cy="310896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/ Z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0" y="3063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92424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3924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339242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→ Sleep (total, path c)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924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−0.142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33924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33924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8595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703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7280" y="3703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→ Anxiety (path 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703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+0.163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0" y="3703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3703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14216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20040" y="40142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0142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→ Sleep controlling for Nomophobia (path b)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0142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−0.465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40142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40142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8595360" cy="292608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0040" y="43251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97280" y="4325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→ Sleep controlling for Anxiety (path c')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43251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−0.066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43251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0" y="432511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Non-sig.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63600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20040" y="4636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97280" y="46360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effect — Sobel Test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46360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−4.07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00800" y="46360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46360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11480" y="49651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effect = −0.076  |  Proportion mediated = 53.3%  |  Phone Use also fully mediated: Sobel Z = −3.97, p = 0.0001, 48.6% mediated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Mediation — The Finding Nobody Expected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Quality → Anxiety → Higher Nomophobia  |   MEDIATION CONFIRMED (Z = −3.94, p = 0.0001, 52.2% mediated)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26464"/>
            <a:ext cx="4251960" cy="2359152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26464"/>
            <a:ext cx="4251960" cy="54864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961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Med. 1: Sleep → Anxiety → Nomophobia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(path c)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84832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−0.318, p = 0.0004 ✓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1579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(path 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84832" y="21579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−0.262, p &lt; 0.001 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(path b)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84832" y="24871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+0.633, p &lt; 0.001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816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 (path c')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84832" y="28163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−0.152, p = 0.098 (ns) 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145536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1455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84832" y="31455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−3.94, p = 0.0001 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474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Mediated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84832" y="34747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26464"/>
            <a:ext cx="4251960" cy="2359152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426464"/>
            <a:ext cx="4251960" cy="54864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49961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Med. 2: Sleep → Anxiety → Phone Use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828800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(path c)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19672" y="1828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−0.241, p = 0.0004 ✓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157984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1579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(path a)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19672" y="21579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−0.262, p &lt; 0.001 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487168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(path b)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19672" y="24871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+0.447, p &lt; 0.001 ✓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2816352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28163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 (path c')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19672" y="28163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−0.124, p = 0.075 (ns) 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145536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1455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Test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19672" y="31455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−3.75, p = 0.0002 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3474720"/>
            <a:ext cx="4069080" cy="310896"/>
          </a:xfrm>
          <a:prstGeom prst="rect">
            <a:avLst/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46320" y="34747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Mediated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19672" y="34747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3913632"/>
            <a:ext cx="8595360" cy="987552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 — Anxiety as the Engine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↑ Anxiety → Anxiety disrupts Sleep → Poor Sleep ↑ Anxiety → Elevated Anxiety ↑ Nomophobia  </a:t>
            </a:r>
            <a:r>
              <a:rPr lang="en-US" sz="1100" b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cycle repeats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Treating only one component (phone use restriction, or only sleep hygiene) will produce temporary relief. The entire loop must be addressed — anxiety is the hub.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Practical Implications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91440" cy="128016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96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&gt; Screen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Nomophobia (ρ = −0.24) predicts sleep disruption more strongly than general phone use (ρ = −0.21). Emotional dependency matters more than duration alone.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91440" cy="128016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96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is the Mechanism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070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anxiety entered regression, R² nearly tripled. In mediation, it absorbed the effects of both predictors. It is the common currency connecting nomophobia and poor sleep.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91440" cy="128016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Bidirectional System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96896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mediation confirmed: poor sleep also raises anxiety, which raises nomophobia. These three constructs form a self-reinforcing feedback loop — not a linear chain.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94560"/>
            <a:ext cx="91440" cy="128016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Not a Factor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96896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differences between male and female students. Digital dependence and its sleep consequences are universally distributed — interventions should be universal too.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84448"/>
            <a:ext cx="91440" cy="1280160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86784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the phone — it's the anxiety. Mindfulness, worry journalling, genuine wind-down routines. Recognise that the anxiety is partly by design of these platforms.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584448"/>
            <a:ext cx="42519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584448"/>
            <a:ext cx="91440" cy="1280160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758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Universities &amp; Policy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986784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anxiety-targeted wellbeing programmes — mindfulness, CBT, counselling. Not just phone-free zones. Screen time rules without anxiety support will not fix sleep.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Directions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84632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846320" cy="54864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822960" cy="47548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26187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H1–H4 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12984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use, nomophobia &amp; anxiety all significantly predict poor sleep (p &lt; 0.001)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856232"/>
            <a:ext cx="822960" cy="475488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85623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H5–H6 ✗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98448" y="18928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gender differences — digital dependence is universal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822960" cy="47548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5059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98448" y="24871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use + nomophobia together predict sleep disturbance (R² = 6.2%)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044952"/>
            <a:ext cx="822960" cy="475488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4495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98448" y="308152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fully mediates nomophobia → sleep. 53.3% indirect. Sobel p &lt; 0.001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822960" cy="475488"/>
          </a:xfrm>
          <a:prstGeom prst="rect">
            <a:avLst/>
          </a:prstGeom>
          <a:solidFill>
            <a:srgbClr val="A83860"/>
          </a:solidFill>
          <a:ln w="12700">
            <a:solidFill>
              <a:srgbClr val="A8386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6393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98448" y="36758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 also raises nomophobia through anxiety (52.2% mediated)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822960" cy="475488"/>
          </a:xfrm>
          <a:prstGeom prst="rect">
            <a:avLst/>
          </a:prstGeom>
          <a:solidFill>
            <a:srgbClr val="7B1F4B"/>
          </a:solidFill>
          <a:ln w="12700">
            <a:solidFill>
              <a:srgbClr val="7B1F4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23367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Message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98448" y="42702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the phone. It is the anxiety the phone generates.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804672"/>
            <a:ext cx="352044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804672"/>
            <a:ext cx="3520440" cy="54864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8778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12984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mediation analysis (PROCESS macro) for more robust indirect effects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179222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design — to establish which comes first: nomophobia, anxiety, or poor sleep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2286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controlled trial: anxiety-targeted intervention vs screen time reduction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2779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Indian samples — different institutions, regions, socioeconomic backgrounds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0" y="32735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validated instruments — complete PSQI (7 subscales), full 20-item NMP-Q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0" y="37673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caffeine, exercise, academic stress, social support in future models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0" y="426110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regional-language versions of instruments for wider reach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Limitations: Cross-sectional design (no causal conclusions) · Snowball sampling · Adapted shortened scales · Sobel test assumes normality of indirect effect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41148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02920" y="107899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2920" y="1572768"/>
            <a:ext cx="8138160" cy="3657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719072"/>
            <a:ext cx="8138160" cy="2697480"/>
          </a:xfrm>
          <a:prstGeom prst="rect">
            <a:avLst/>
          </a:prstGeom>
          <a:solidFill>
            <a:srgbClr val="5C0F30"/>
          </a:solidFill>
          <a:ln w="12700">
            <a:solidFill>
              <a:srgbClr val="6B104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922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121408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Baron &amp; Kenny (1986). Mediation analysis. J Pers Soc Psychol, 51(6), 1173–1182.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237744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Buysse et al. (1989). Pittsburgh Sleep Quality Index (PSQI). Psychiatry Research, 28(2), 193–213.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Cain &amp; Gradisar (2010). Electronic media and sleep. Sleep Medicine, 11(8), 735–742.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2889504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Cohen, J. (1988). Statistical Power Analysis for the Behavioral Sciences. LEA.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3145536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Demirci et al. (2015). Smartphone use and sleep/anxiety. J Behavioral Addictions, 4(2), 85–92.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3401568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Elhai et al. (2017). Problematic smartphone use and anxiety/depression. J Affect Disord, 207, 251–259.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3657600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Harvey, A. G. (2002). Cognitive model of insomnia. Behaviour Research &amp; Therapy, 40(8), 869–893.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" y="391363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Spitzer et al. (2006). GAD-7. Archives of Internal Medicine, 166(10), 1092–1097.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4169664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Yildirim &amp; Correia (2015). NMP-Q development. Computers in Human Behavior, 49, 130–137.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4576118"/>
            <a:ext cx="8138160" cy="379929"/>
          </a:xfrm>
          <a:prstGeom prst="rect">
            <a:avLst/>
          </a:prstGeom>
          <a:solidFill>
            <a:srgbClr val="1A4C2C"/>
          </a:solidFill>
          <a:ln w="12700">
            <a:solidFill>
              <a:srgbClr val="1A4C2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4805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2333</Words>
  <Application>Microsoft Office PowerPoint</Application>
  <PresentationFormat>On-screen Show (16:9)</PresentationFormat>
  <Paragraphs>358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Dependence and Sleep Hygiene — Nomophobia Study</dc:title>
  <dc:subject>PptxGenJS Presentation</dc:subject>
  <dc:creator>Aanoushka Garg</dc:creator>
  <cp:lastModifiedBy>Aanoushka Garg</cp:lastModifiedBy>
  <cp:revision>2</cp:revision>
  <dcterms:created xsi:type="dcterms:W3CDTF">2026-04-28T02:11:52Z</dcterms:created>
  <dcterms:modified xsi:type="dcterms:W3CDTF">2026-08-26T07:13:14Z</dcterms:modified>
</cp:coreProperties>
</file>